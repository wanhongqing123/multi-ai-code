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PingFang SC"/>
              </a:rPr>
              <a:t>A LOCAL AI CODING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200" b="1">
                <a:solidFill>
                  <a:srgbClr val="F5EDE0"/>
                </a:solidFill>
                <a:latin typeface="Songti SC"/>
              </a:rPr>
              <a:t>Multi-AI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200" b="1">
                <a:solidFill>
                  <a:srgbClr val="C2410C"/>
                </a:solidFill>
                <a:latin typeface="Songti SC"/>
              </a:rPr>
              <a:t>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D4C4AB"/>
                </a:solidFill>
                <a:latin typeface="Songti SC"/>
              </a:rPr>
              <a:t>面向本地仓库的 AI CLI 协作工作台。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D4C4AB"/>
                </a:solidFill>
                <a:latin typeface="Songti SC"/>
              </a:rPr>
              <a:t>把方案阅读、主会话推进、Diff 审查与反馈回灌放进一个工具里。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0916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4A1E2E"/>
          </a:solidFill>
          <a:ln w="9525">
            <a:solidFill>
              <a:srgbClr val="F5E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5EDE0"/>
                </a:solidFill>
                <a:latin typeface="PingFang SC"/>
              </a:rPr>
              <a:t>方案驱动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48256" y="4709160"/>
            <a:ext cx="1106424" cy="365760"/>
          </a:xfrm>
          <a:prstGeom prst="roundRect">
            <a:avLst>
              <a:gd name="adj" fmla="val 50000"/>
            </a:avLst>
          </a:prstGeom>
          <a:solidFill>
            <a:srgbClr val="4A1E2E"/>
          </a:solidFill>
          <a:ln w="9525">
            <a:solidFill>
              <a:srgbClr val="F5E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5EDE0"/>
                </a:solidFill>
                <a:latin typeface="PingFang SC"/>
              </a:rPr>
              <a:t>Diff 审查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8" y="4709160"/>
            <a:ext cx="1929384" cy="365760"/>
          </a:xfrm>
          <a:prstGeom prst="roundRect">
            <a:avLst>
              <a:gd name="adj" fmla="val 50000"/>
            </a:avLst>
          </a:prstGeom>
          <a:solidFill>
            <a:srgbClr val="4A1E2E"/>
          </a:solidFill>
          <a:ln w="9525">
            <a:solidFill>
              <a:srgbClr val="F5E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5EDE0"/>
                </a:solidFill>
                <a:latin typeface="PingFang SC"/>
              </a:rPr>
              <a:t>Claude Code / Codex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70916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4A1E2E"/>
          </a:solidFill>
          <a:ln w="9525">
            <a:solidFill>
              <a:srgbClr val="F5E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5EDE0"/>
                </a:solidFill>
                <a:latin typeface="PingFang SC"/>
              </a:rPr>
              <a:t>本地运行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914400"/>
            <a:ext cx="4846320" cy="309030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主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4846320" cy="30903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59775" y="640080"/>
            <a:ext cx="34747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500" b="1">
                <a:solidFill>
                  <a:srgbClr val="5E2A3A"/>
                </a:solidFill>
                <a:latin typeface="Songti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EDE0"/>
                </a:solidFill>
                <a:latin typeface="PingFang SC"/>
              </a:rPr>
              <a:t>MULTI-AI 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49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D4C4AB"/>
                </a:solidFill>
                <a:latin typeface="Menlo"/>
              </a:rPr>
              <a:t>01  ／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D2E46"/>
                </a:solidFill>
                <a:latin typeface="PingFang SC"/>
              </a:rPr>
              <a:t>MULTI-AI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8716C"/>
                </a:solidFill>
                <a:latin typeface="Menlo"/>
              </a:rPr>
              <a:t>02  ／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6D2E46"/>
                </a:solidFill>
                <a:latin typeface="Songti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1430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PingFang SC"/>
              </a:rPr>
              <a:t>为什么需要它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C1917"/>
                </a:solidFill>
                <a:latin typeface="Songti SC"/>
              </a:rPr>
              <a:t>问题不在 AI 不够强，而在协作流程不够顺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493776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3383280"/>
            <a:ext cx="457200" cy="457200"/>
          </a:xfrm>
          <a:prstGeom prst="ellipse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6D2E46"/>
                </a:solidFill>
                <a:latin typeface="Songti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3337560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C1917"/>
                </a:solidFill>
                <a:latin typeface="Songti SC"/>
              </a:rPr>
              <a:t>方案和执行脱节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977640"/>
            <a:ext cx="4160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讨论过的方向留在聊天里，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AI 一旦开始写代码，就容易偏离最初意图。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063240"/>
            <a:ext cx="493776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383280"/>
            <a:ext cx="457200" cy="457200"/>
          </a:xfrm>
          <a:prstGeom prst="ellipse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6D2E46"/>
                </a:solidFill>
                <a:latin typeface="Songti SC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337560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C1917"/>
                </a:solidFill>
                <a:latin typeface="Songti SC"/>
              </a:rPr>
              <a:t>长会话难以收束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977640"/>
            <a:ext cx="4160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上下文越长越容易漂移，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到后面很难判断 AI 现在到底在按什么目标推进。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92040"/>
            <a:ext cx="493776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34440" y="5212080"/>
            <a:ext cx="457200" cy="457200"/>
          </a:xfrm>
          <a:prstGeom prst="ellipse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6D2E46"/>
                </a:solidFill>
                <a:latin typeface="Songti SC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5166360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C1917"/>
                </a:solidFill>
                <a:latin typeface="Songti SC"/>
              </a:rPr>
              <a:t>Diff 反馈转述成本高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5806440"/>
            <a:ext cx="4160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用户能在代码里看出问题，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但还要手动复制片段、描述位置，再重新讲给 AI。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892040"/>
            <a:ext cx="493776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212080"/>
            <a:ext cx="457200" cy="457200"/>
          </a:xfrm>
          <a:prstGeom prst="ellipse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6D2E46"/>
                </a:solidFill>
                <a:latin typeface="Songti SC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5166360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C1917"/>
                </a:solidFill>
                <a:latin typeface="Songti SC"/>
              </a:rPr>
              <a:t>CLI 工具各自为战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5806440"/>
            <a:ext cx="4160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Claude Code 和 Codex 各有优势，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但缺少统一工作台把它们接进同一条流程。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45352"/>
            <a:ext cx="103628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8716C"/>
                </a:solidFill>
                <a:latin typeface="Songti SC"/>
              </a:rPr>
              <a:t>Multi-AI Code 解决的不是单点能力，而是让方案、执行、审查和反馈形成闭环。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D2E46"/>
                </a:solidFill>
                <a:latin typeface="PingFang SC"/>
              </a:rPr>
              <a:t>MULTI-AI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8716C"/>
                </a:solidFill>
                <a:latin typeface="Menlo"/>
              </a:rPr>
              <a:t>03  ／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6D2E46"/>
                </a:solidFill>
                <a:latin typeface="Songti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1430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PingFang SC"/>
              </a:rPr>
              <a:t>产品定位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C1917"/>
                </a:solidFill>
                <a:latin typeface="Songti SC"/>
              </a:rPr>
              <a:t>它不是普通聊天壳，而是一个面向真实仓库的 AI 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206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C1917"/>
                </a:solidFill>
                <a:latin typeface="PingFang SC"/>
              </a:rPr>
              <a:t>一个项目 = 一个本地仓库 + 一份当前方案 + 一个主会话。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C1917"/>
                </a:solidFill>
                <a:latin typeface="PingFang SC"/>
              </a:rPr>
              <a:t>AI 先理解方案，再推进实现；用户通过 Diff 审查把反馈继续回灌给同一个会话。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00600"/>
            <a:ext cx="2439847" cy="1143000"/>
          </a:xfrm>
          <a:prstGeom prst="roundRect">
            <a:avLst>
              <a:gd name="adj" fmla="val 4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95604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D2E46"/>
                </a:solidFill>
                <a:latin typeface="Menl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5248656"/>
            <a:ext cx="20375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C1917"/>
                </a:solidFill>
                <a:latin typeface="Songti SC"/>
              </a:rPr>
              <a:t>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5513832"/>
            <a:ext cx="20375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8716C"/>
                </a:solidFill>
                <a:latin typeface="PingFang SC"/>
              </a:rPr>
              <a:t>任务目标显式落在 Markdown 文件里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5415" y="4800600"/>
            <a:ext cx="2439847" cy="1143000"/>
          </a:xfrm>
          <a:prstGeom prst="roundRect">
            <a:avLst>
              <a:gd name="adj" fmla="val 4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6583" y="495604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D2E46"/>
                </a:solidFill>
                <a:latin typeface="Menl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6583" y="5248656"/>
            <a:ext cx="20375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C1917"/>
                </a:solidFill>
                <a:latin typeface="Songti SC"/>
              </a:rPr>
              <a:t>主会话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6583" y="5513832"/>
            <a:ext cx="20375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8716C"/>
                </a:solidFill>
                <a:latin typeface="PingFang SC"/>
              </a:rPr>
              <a:t>AI CLI 在真实 PTY 终端里推进任务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4800600"/>
            <a:ext cx="2439847" cy="1143000"/>
          </a:xfrm>
          <a:prstGeom prst="roundRect">
            <a:avLst>
              <a:gd name="adj" fmla="val 4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9" y="495604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D2E46"/>
                </a:solidFill>
                <a:latin typeface="Menl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99" y="5248656"/>
            <a:ext cx="20375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C1917"/>
                </a:solidFill>
                <a:latin typeface="Songti SC"/>
              </a:rPr>
              <a:t>Diff 审查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7599" y="5513832"/>
            <a:ext cx="20375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8716C"/>
                </a:solidFill>
                <a:latin typeface="PingFang SC"/>
              </a:rPr>
              <a:t>用户针对具体改动逐行提出反馈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37447" y="4800600"/>
            <a:ext cx="2439847" cy="1143000"/>
          </a:xfrm>
          <a:prstGeom prst="roundRect">
            <a:avLst>
              <a:gd name="adj" fmla="val 4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8615" y="495604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D2E46"/>
                </a:solidFill>
                <a:latin typeface="Menl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8615" y="5248656"/>
            <a:ext cx="20375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C1917"/>
                </a:solidFill>
                <a:latin typeface="Songti SC"/>
              </a:rPr>
              <a:t>回灌闭环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8615" y="5513832"/>
            <a:ext cx="20375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8716C"/>
                </a:solidFill>
                <a:latin typeface="PingFang SC"/>
              </a:rPr>
              <a:t>反馈直接回到当前会话，继续修改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D2E46"/>
                </a:solidFill>
                <a:latin typeface="PingFang SC"/>
              </a:rPr>
              <a:t>MULTI-AI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8716C"/>
                </a:solidFill>
                <a:latin typeface="Menlo"/>
              </a:rPr>
              <a:t>04  ／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6D2E46"/>
                </a:solidFill>
                <a:latin typeface="Songti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1430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PingFang SC"/>
              </a:rPr>
              <a:t>核心能力总览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C1917"/>
                </a:solidFill>
                <a:latin typeface="Songti SC"/>
              </a:rPr>
              <a:t>当前版本已经形成一条可使用、可演示的主流程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49377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369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2410C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84448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6D2E46"/>
                </a:solidFill>
                <a:latin typeface="Songti SC"/>
              </a:rPr>
              <a:t>主会话终端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5196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1917"/>
                </a:solidFill>
                <a:latin typeface="PingFang SC"/>
              </a:rPr>
              <a:t>以真实 PTY 驱动 Claude Code 或 Codex。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1917"/>
                </a:solidFill>
                <a:latin typeface="PingFang SC"/>
              </a:rPr>
              <a:t>状态清晰，可启动、停止、重启，适合持续推进单个任务。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017520"/>
            <a:ext cx="49377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369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2410C"/>
                </a:solidFill>
                <a:latin typeface="PingFang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84448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6D2E46"/>
                </a:solidFill>
                <a:latin typeface="Songti SC"/>
              </a:rPr>
              <a:t>方案导入与预览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6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1917"/>
                </a:solidFill>
                <a:latin typeface="PingFang SC"/>
              </a:rPr>
              <a:t>支持仓库内方案与外部方案文件。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1917"/>
                </a:solidFill>
                <a:latin typeface="PingFang SC"/>
              </a:rPr>
              <a:t>先看方案、先做标注、先确认方向，再决定是否继续修改代码。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85232"/>
            <a:ext cx="49377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50468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2410C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8521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6D2E46"/>
                </a:solidFill>
                <a:latin typeface="Songti SC"/>
              </a:rPr>
              <a:t>Diff 审查与逐行反馈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6519672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1917"/>
                </a:solidFill>
                <a:latin typeface="PingFang SC"/>
              </a:rPr>
              <a:t>双栏查看当前改动，支持多行选区、逐条说明与整体意见。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1917"/>
                </a:solidFill>
                <a:latin typeface="PingFang SC"/>
              </a:rPr>
              <a:t>反馈可直接回灌给当前会话。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285232"/>
            <a:ext cx="49377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50468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2410C"/>
                </a:solidFill>
                <a:latin typeface="PingFang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8521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6D2E46"/>
                </a:solidFill>
                <a:latin typeface="Songti SC"/>
              </a:rPr>
              <a:t>双 AI CLI 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519672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1917"/>
                </a:solidFill>
                <a:latin typeface="PingFang SC"/>
              </a:rPr>
              <a:t>支持 Claude Code 与 Codex。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1917"/>
                </a:solidFill>
                <a:latin typeface="PingFang SC"/>
              </a:rPr>
              <a:t>团队可以按已有习惯选择 CLI，并保留 binary、参数与环境变量级别的灵活性。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D2E46"/>
                </a:solidFill>
                <a:latin typeface="PingFang SC"/>
              </a:rPr>
              <a:t>MULTI-AI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8716C"/>
                </a:solidFill>
                <a:latin typeface="Menlo"/>
              </a:rPr>
              <a:t>05  ／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6D2E46"/>
                </a:solidFill>
                <a:latin typeface="Songti S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1430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PingFang SC"/>
              </a:rPr>
              <a:t>典型使用流程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C1917"/>
                </a:solidFill>
                <a:latin typeface="Songti SC"/>
              </a:rPr>
              <a:t>从进入仓库到完成一轮迭代，路径足够清晰</a:t>
            </a:r>
          </a:p>
        </p:txBody>
      </p:sp>
      <p:sp>
        <p:nvSpPr>
          <p:cNvPr id="8" name="Oval 7"/>
          <p:cNvSpPr/>
          <p:nvPr/>
        </p:nvSpPr>
        <p:spPr>
          <a:xfrm>
            <a:off x="1345158" y="3392423"/>
            <a:ext cx="713232" cy="713232"/>
          </a:xfrm>
          <a:prstGeom prst="ellipse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D2E46"/>
                </a:solidFill>
                <a:latin typeface="Songti SC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345158" y="3392423"/>
            <a:ext cx="713232" cy="713232"/>
          </a:xfrm>
          <a:prstGeom prst="ellipse">
            <a:avLst/>
          </a:prstGeom>
          <a:noFill/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51959"/>
            <a:ext cx="15381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C1917"/>
                </a:solidFill>
                <a:latin typeface="Songti SC"/>
              </a:rPr>
              <a:t>选择仓库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663439"/>
            <a:ext cx="153817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78716C"/>
                </a:solidFill>
                <a:latin typeface="PingFang SC"/>
              </a:rPr>
              <a:t>AI CLI 在真实项目目录下工作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0861" y="3745539"/>
            <a:ext cx="146304" cy="70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2787" y="3392423"/>
            <a:ext cx="713232" cy="713232"/>
          </a:xfrm>
          <a:prstGeom prst="ellipse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D2E46"/>
                </a:solidFill>
                <a:latin typeface="Songti S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3102787" y="3392423"/>
            <a:ext cx="713232" cy="713232"/>
          </a:xfrm>
          <a:prstGeom prst="ellipse">
            <a:avLst/>
          </a:prstGeom>
          <a:noFill/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0317" y="4251959"/>
            <a:ext cx="15381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C1917"/>
                </a:solidFill>
                <a:latin typeface="Songti SC"/>
              </a:rPr>
              <a:t>选择方案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0317" y="4663439"/>
            <a:ext cx="153817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78716C"/>
                </a:solidFill>
                <a:latin typeface="PingFang SC"/>
              </a:rPr>
              <a:t>使用仓库内方案，或导入外部 Markdown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8490" y="3745539"/>
            <a:ext cx="146304" cy="70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416" y="3392423"/>
            <a:ext cx="713232" cy="71323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Songti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7946" y="4251959"/>
            <a:ext cx="15381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C1917"/>
                </a:solidFill>
                <a:latin typeface="Songti SC"/>
              </a:rPr>
              <a:t>启动会话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7946" y="4663439"/>
            <a:ext cx="153817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78716C"/>
                </a:solidFill>
                <a:latin typeface="PingFang SC"/>
              </a:rPr>
              <a:t>AI 先阅读方案，总结目标并等待确认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6119" y="3745539"/>
            <a:ext cx="146304" cy="70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18046" y="3392423"/>
            <a:ext cx="713232" cy="713232"/>
          </a:xfrm>
          <a:prstGeom prst="ellipse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D2E46"/>
                </a:solidFill>
                <a:latin typeface="Songti SC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6618046" y="3392423"/>
            <a:ext cx="713232" cy="713232"/>
          </a:xfrm>
          <a:prstGeom prst="ellipse">
            <a:avLst/>
          </a:prstGeom>
          <a:noFill/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5575" y="4251959"/>
            <a:ext cx="15381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C1917"/>
                </a:solidFill>
                <a:latin typeface="Songti SC"/>
              </a:rPr>
              <a:t>推进实现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575" y="4663439"/>
            <a:ext cx="153817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78716C"/>
                </a:solidFill>
                <a:latin typeface="PingFang SC"/>
              </a:rPr>
              <a:t>在主终端里持续修改、运行、解释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3748" y="3745539"/>
            <a:ext cx="146304" cy="70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75675" y="3392423"/>
            <a:ext cx="713232" cy="71323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Songti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3204" y="4251959"/>
            <a:ext cx="15381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C1917"/>
                </a:solidFill>
                <a:latin typeface="Songti SC"/>
              </a:rPr>
              <a:t>打开 Diff 审查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3204" y="4663439"/>
            <a:ext cx="153817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78716C"/>
                </a:solidFill>
                <a:latin typeface="PingFang SC"/>
              </a:rPr>
              <a:t>查看当前代码改动，选中关键位置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1377" y="3745539"/>
            <a:ext cx="146304" cy="70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33304" y="3392423"/>
            <a:ext cx="713232" cy="713232"/>
          </a:xfrm>
          <a:prstGeom prst="ellipse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D2E46"/>
                </a:solidFill>
                <a:latin typeface="Songti SC"/>
              </a:rPr>
              <a:t>6</a:t>
            </a:r>
          </a:p>
        </p:txBody>
      </p:sp>
      <p:sp>
        <p:nvSpPr>
          <p:cNvPr id="32" name="Oval 31"/>
          <p:cNvSpPr/>
          <p:nvPr/>
        </p:nvSpPr>
        <p:spPr>
          <a:xfrm>
            <a:off x="10133304" y="3392423"/>
            <a:ext cx="713232" cy="713232"/>
          </a:xfrm>
          <a:prstGeom prst="ellipse">
            <a:avLst/>
          </a:prstGeom>
          <a:noFill/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0833" y="4251959"/>
            <a:ext cx="15381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C1917"/>
                </a:solidFill>
                <a:latin typeface="Songti SC"/>
              </a:rPr>
              <a:t>批注回灌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833" y="4663439"/>
            <a:ext cx="153817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78716C"/>
                </a:solidFill>
                <a:latin typeface="PingFang SC"/>
              </a:rPr>
              <a:t>把逐行反馈发回同一个会话继续修改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99632"/>
            <a:ext cx="103628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8716C"/>
                </a:solidFill>
                <a:latin typeface="Songti SC"/>
              </a:rPr>
              <a:t>关键点：AI 不是一次性跑完，而是在用户的确认和批注中逐轮推进。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D2E46"/>
                </a:solidFill>
                <a:latin typeface="PingFang SC"/>
              </a:rPr>
              <a:t>MULTI-AI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8716C"/>
                </a:solidFill>
                <a:latin typeface="Menlo"/>
              </a:rPr>
              <a:t>06  ／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PingFang SC"/>
              </a:rPr>
              <a:t>方案驱动能力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C1917"/>
                </a:solidFill>
                <a:latin typeface="Songti SC"/>
              </a:rPr>
              <a:t>方案文件是一等公民，</a:t>
            </a:r>
          </a:p>
          <a:p>
            <a:pPr algn="l">
              <a:lnSpc>
                <a:spcPct val="120000"/>
              </a:lnSpc>
            </a:pPr>
            <a:r>
              <a:rPr sz="3000" b="1">
                <a:solidFill>
                  <a:srgbClr val="1C1917"/>
                </a:solidFill>
                <a:latin typeface="Songti SC"/>
              </a:rPr>
              <a:t>而不是沉在聊天记录里。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389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支持仓库内方案和外部 Markdown 方案</a:t>
            </a:r>
          </a:p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外部方案只把绝对路径交给 AI CLI，自行读取，避免长文刷屏</a:t>
            </a:r>
          </a:p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在用户确认之前，AI 先总结方案，不直接改代码</a:t>
            </a:r>
          </a:p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方案预览本身就支持标注，适合先对齐目标再进入实施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4663440" cy="29612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方案 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4663440" cy="29612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D2E46"/>
                </a:solidFill>
                <a:latin typeface="PingFang SC"/>
              </a:rPr>
              <a:t>MULTI-AI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8716C"/>
                </a:solidFill>
                <a:latin typeface="Menlo"/>
              </a:rPr>
              <a:t>07  ／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PingFang SC"/>
              </a:rPr>
              <a:t>Diff 审查与批注回灌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C1917"/>
                </a:solidFill>
                <a:latin typeface="Songti SC"/>
              </a:rPr>
              <a:t>看代码的时候就把意见写下来，</a:t>
            </a:r>
          </a:p>
          <a:p>
            <a:pPr algn="l">
              <a:lnSpc>
                <a:spcPct val="120000"/>
              </a:lnSpc>
            </a:pPr>
            <a:r>
              <a:rPr sz="2900" b="1">
                <a:solidFill>
                  <a:srgbClr val="1C1917"/>
                </a:solidFill>
                <a:latin typeface="Songti SC"/>
              </a:rPr>
              <a:t>而不是事后再转述给 AI。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48056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查看工作区改动、最近提交或指定 commit</a:t>
            </a:r>
          </a:p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支持单行、多行代码选区标注</a:t>
            </a:r>
          </a:p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右侧逐条填写说明，也可补整体意见</a:t>
            </a:r>
          </a:p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一键把批注发回当前 AI CLI，继续修改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914400"/>
            <a:ext cx="4892040" cy="31064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代码 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14400"/>
            <a:ext cx="4892040" cy="31064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D2E46"/>
                </a:solidFill>
                <a:latin typeface="PingFang SC"/>
              </a:rPr>
              <a:t>MULTI-AI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8716C"/>
                </a:solidFill>
                <a:latin typeface="Menlo"/>
              </a:rPr>
              <a:t>08  ／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6D2E46"/>
                </a:solidFill>
                <a:latin typeface="Songti S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1430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PingFang SC"/>
              </a:rPr>
              <a:t>AI CLI 配置能力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C1917"/>
                </a:solidFill>
                <a:latin typeface="Songti SC"/>
              </a:rPr>
              <a:t>不改变团队的 CLI 习惯，而是把它们接进统一工作流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3246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3697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2410C"/>
                </a:solidFill>
                <a:latin typeface="PingFang SC"/>
              </a:rPr>
              <a:t>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8444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6D2E46"/>
                </a:solidFill>
                <a:latin typeface="Songti SC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519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1917"/>
                </a:solidFill>
                <a:latin typeface="PingFang SC"/>
              </a:rPr>
              <a:t>适合强调交互式协作、阅读与修改节奏的团队。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017520"/>
            <a:ext cx="324612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23697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2410C"/>
                </a:solidFill>
                <a:latin typeface="PingFang SC"/>
              </a:rPr>
              <a:t>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58444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6D2E46"/>
                </a:solidFill>
                <a:latin typeface="Songti SC"/>
              </a:rPr>
              <a:t>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2519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1917"/>
                </a:solidFill>
                <a:latin typeface="PingFang SC"/>
              </a:rPr>
              <a:t>适合希望直接用 Codex CLI 推进主任务，统一放在同一个桌面工具里操作。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154680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支持切换 `Claude Code` / `Codex`</a:t>
            </a:r>
          </a:p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支持 binary override</a:t>
            </a:r>
          </a:p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支持附加参数与环境变量</a:t>
            </a:r>
          </a:p>
          <a:p>
            <a:pPr algn="l">
              <a:lnSpc>
                <a:spcPct val="155000"/>
              </a:lnSpc>
              <a:spcAft>
                <a:spcPts val="700"/>
              </a:spcAft>
            </a:pPr>
            <a:r>
              <a:rPr sz="1400" b="1">
                <a:solidFill>
                  <a:srgbClr val="6D2E46"/>
                </a:solidFill>
                <a:latin typeface="PingFang SC"/>
              </a:rPr>
              <a:t>—   </a:t>
            </a:r>
            <a:r>
              <a:rPr sz="1400">
                <a:solidFill>
                  <a:srgbClr val="1C1917"/>
                </a:solidFill>
                <a:latin typeface="PingFang SC"/>
              </a:rPr>
              <a:t>更适配不同团队已有的 AI CLI 习惯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16752"/>
            <a:ext cx="103628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78716C"/>
                </a:solidFill>
                <a:latin typeface="Songti SC"/>
              </a:rPr>
              <a:t>价值不在于绑定某一个模型，而在于把不同 CLI 工具收进同一个稳定工作流。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D2E46"/>
                </a:solidFill>
                <a:latin typeface="PingFang SC"/>
              </a:rPr>
              <a:t>MULTI-AI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8716C"/>
                </a:solidFill>
                <a:latin typeface="Menlo"/>
              </a:rPr>
              <a:t>09  ／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6D2E46"/>
                </a:solidFill>
                <a:latin typeface="Songti S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1430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PingFang SC"/>
              </a:rPr>
              <a:t>当前产品价值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C1917"/>
                </a:solidFill>
                <a:latin typeface="Songti SC"/>
              </a:rPr>
              <a:t>从老板视角看，这个工具已经有明确的投入方向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49377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19272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1917"/>
                </a:solidFill>
                <a:latin typeface="Songti SC"/>
              </a:rPr>
              <a:t>让方案到实现更可控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319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方案先显式落盘，AI 先阅读、先总结、先确认，再继续改代码。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63240"/>
            <a:ext cx="49377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319272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1917"/>
                </a:solidFill>
                <a:latin typeface="Songti SC"/>
              </a:rPr>
              <a:t>让代码审查形成闭环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用户在 Diff 审查里看到问题，就地批注，再直接发回 AI 继续改。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919472"/>
            <a:ext cx="49377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175504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1917"/>
                </a:solidFill>
                <a:latin typeface="Songti SC"/>
              </a:rPr>
              <a:t>降低团队使用门槛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788152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把真实 CLI、方案、终端和审查集中到一个桌面工具里，减少切换成本。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919472"/>
            <a:ext cx="49377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5175504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1917"/>
                </a:solidFill>
                <a:latin typeface="Songti SC"/>
              </a:rPr>
              <a:t>为后续沉淀打基础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788152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78716C"/>
                </a:solidFill>
                <a:latin typeface="PingFang SC"/>
              </a:rPr>
              <a:t>当前已经具备演示能力，后续可继续拓展历史、记忆和协作能力。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EDE0"/>
                </a:solidFill>
                <a:latin typeface="PingFang SC"/>
              </a:rPr>
              <a:t>MULTI-AI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4849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D4C4AB"/>
                </a:solidFill>
                <a:latin typeface="Menlo"/>
              </a:rPr>
              <a:t>10  ／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28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PingFang SC"/>
              </a:rPr>
              <a:t>下一步机会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5EDE0"/>
                </a:solidFill>
                <a:latin typeface="Songti SC"/>
              </a:rPr>
              <a:t>当前方向已经清晰，</a:t>
            </a:r>
          </a:p>
          <a:p>
            <a:pPr algn="l">
              <a:lnSpc>
                <a:spcPct val="115000"/>
              </a:lnSpc>
            </a:pPr>
            <a:r>
              <a:rPr sz="3400" b="1">
                <a:solidFill>
                  <a:srgbClr val="F5EDE0"/>
                </a:solidFill>
                <a:latin typeface="Songti SC"/>
              </a:rPr>
              <a:t>接下来重点是把体验继续打磨到更稳定、更顺手。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4769967" cy="841248"/>
          </a:xfrm>
          <a:prstGeom prst="roundRect">
            <a:avLst>
              <a:gd name="adj" fmla="val 4000"/>
            </a:avLst>
          </a:prstGeom>
          <a:solidFill>
            <a:srgbClr val="5A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95935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C4AB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913631"/>
            <a:ext cx="390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5EDE0"/>
                </a:solidFill>
                <a:latin typeface="Songti SC"/>
              </a:rPr>
              <a:t>更稳定的长会话体验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58687" y="3749039"/>
            <a:ext cx="4769967" cy="841248"/>
          </a:xfrm>
          <a:prstGeom prst="roundRect">
            <a:avLst>
              <a:gd name="adj" fmla="val 4000"/>
            </a:avLst>
          </a:prstGeom>
          <a:solidFill>
            <a:srgbClr val="5A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855" y="395935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C4AB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3913631"/>
            <a:ext cx="390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5EDE0"/>
                </a:solidFill>
                <a:latin typeface="Songti SC"/>
              </a:rPr>
              <a:t>更强的 markdown 与输出可读性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46319"/>
            <a:ext cx="4769967" cy="841248"/>
          </a:xfrm>
          <a:prstGeom prst="roundRect">
            <a:avLst>
              <a:gd name="adj" fmla="val 4000"/>
            </a:avLst>
          </a:prstGeom>
          <a:solidFill>
            <a:srgbClr val="5A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05663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C4AB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010911"/>
            <a:ext cx="390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5EDE0"/>
                </a:solidFill>
                <a:latin typeface="Songti SC"/>
              </a:rPr>
              <a:t>更完善的历史、上下文与项目级沉淀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8687" y="4846319"/>
            <a:ext cx="4769967" cy="841248"/>
          </a:xfrm>
          <a:prstGeom prst="roundRect">
            <a:avLst>
              <a:gd name="adj" fmla="val 4000"/>
            </a:avLst>
          </a:prstGeom>
          <a:solidFill>
            <a:srgbClr val="5A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9855" y="505663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C4AB"/>
                </a:solidFill>
                <a:latin typeface="Menl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5010911"/>
            <a:ext cx="3901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5EDE0"/>
                </a:solidFill>
                <a:latin typeface="Songti SC"/>
              </a:rPr>
              <a:t>更成熟的团队演示与协作能力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99632"/>
            <a:ext cx="103628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4C4AB"/>
                </a:solidFill>
                <a:latin typeface="Songti SC"/>
              </a:rPr>
              <a:t>Multi-AI Code 已具备明确主线与可演示能力，适合继续打磨为更成熟的 AI 编码工作台。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